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8F88"/>
            </a:solidFill>
            <a:ln w="31750">
              <a:solidFill>
                <a:srgbClr val="008F88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24873.0</c:v>
                </c:pt>
                <c:pt idx="1">
                  <c:v>32620.0</c:v>
                </c:pt>
                <c:pt idx="2">
                  <c:v>32911.0</c:v>
                </c:pt>
                <c:pt idx="3">
                  <c:v>27288.0</c:v>
                </c:pt>
                <c:pt idx="4">
                  <c:v>37851.0</c:v>
                </c:pt>
                <c:pt idx="5">
                  <c:v>35411.0</c:v>
                </c:pt>
                <c:pt idx="6">
                  <c:v>30570.0</c:v>
                </c:pt>
                <c:pt idx="7">
                  <c:v>35555.0</c:v>
                </c:pt>
                <c:pt idx="8">
                  <c:v>34364.0</c:v>
                </c:pt>
                <c:pt idx="9">
                  <c:v>34464.0</c:v>
                </c:pt>
                <c:pt idx="10">
                  <c:v>34322.0</c:v>
                </c:pt>
                <c:pt idx="11">
                  <c:v>29521.0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MoM growth</c:v>
                </c:pt>
              </c:strCache>
            </c:strRef>
          </c:tx>
          <c:spPr>
            <a:ln w="31750">
              <a:solidFill>
                <a:srgbClr val="008F88"/>
              </a:solidFill>
            </a:ln>
          </c:spPr>
          <c:cat>
            <c:strRef>
              <c:f>Sheet1!$A$2:$A$12</c:f>
              <c:strCache>
                <c:ptCount val="11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Oct</c:v>
                </c:pt>
                <c:pt idx="9">
                  <c:v>Nov</c:v>
                </c:pt>
                <c:pt idx="10">
                  <c:v>Dec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31.14622281188437</c:v>
                </c:pt>
                <c:pt idx="1">
                  <c:v>0.8920907418761503</c:v>
                </c:pt>
                <c:pt idx="2">
                  <c:v>-17.085472942177383</c:v>
                </c:pt>
                <c:pt idx="3">
                  <c:v>38.709322779243614</c:v>
                </c:pt>
                <c:pt idx="4">
                  <c:v>-6.446329026974185</c:v>
                </c:pt>
                <c:pt idx="5">
                  <c:v>-13.670893225268987</c:v>
                </c:pt>
                <c:pt idx="6">
                  <c:v>16.306836768073275</c:v>
                </c:pt>
                <c:pt idx="7">
                  <c:v>-3.3497398396849953</c:v>
                </c:pt>
                <c:pt idx="8">
                  <c:v>0.2910022116167976</c:v>
                </c:pt>
                <c:pt idx="9">
                  <c:v>-0.41202414113277186</c:v>
                </c:pt>
                <c:pt idx="10">
                  <c:v>-13.98811258085193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sz="1100"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Account share</c:v>
                </c:pt>
              </c:strCache>
            </c:strRef>
          </c:tx>
          <c:spPr>
            <a:solidFill>
              <a:srgbClr val="008F88"/>
            </a:solidFill>
            <a:ln w="31750">
              <a:solidFill>
                <a:srgbClr val="008F88"/>
              </a:solidFill>
            </a:ln>
          </c:spPr>
          <c:cat>
            <c:strRef>
              <c:f>Sheet1!$A$2:$A$5</c:f>
              <c:strCache>
                <c:ptCount val="4"/>
                <c:pt idx="0">
                  <c:v>Q1 · Lowest</c:v>
                </c:pt>
                <c:pt idx="1">
                  <c:v>Q2</c:v>
                </c:pt>
                <c:pt idx="2">
                  <c:v>Q3</c:v>
                </c:pt>
                <c:pt idx="3">
                  <c:v>Q4 · Highest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25.333333333333336</c:v>
                </c:pt>
                <c:pt idx="1">
                  <c:v>24.666666666666668</c:v>
                </c:pt>
                <c:pt idx="2">
                  <c:v>24.666666666666668</c:v>
                </c:pt>
                <c:pt idx="3">
                  <c:v>25.333333333333336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rgbClr val="357EC7"/>
            </a:solidFill>
            <a:ln w="31750">
              <a:solidFill>
                <a:srgbClr val="357EC7"/>
              </a:solidFill>
            </a:ln>
          </c:spPr>
          <c:cat>
            <c:strRef>
              <c:f>Sheet1!$A$2:$A$5</c:f>
              <c:strCache>
                <c:ptCount val="4"/>
                <c:pt idx="0">
                  <c:v>Q1 · Lowest</c:v>
                </c:pt>
                <c:pt idx="1">
                  <c:v>Q2</c:v>
                </c:pt>
                <c:pt idx="2">
                  <c:v>Q3</c:v>
                </c:pt>
                <c:pt idx="3">
                  <c:v>Q4 · Highest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9.640282232200128</c:v>
                </c:pt>
                <c:pt idx="1">
                  <c:v>19.3180243745991</c:v>
                </c:pt>
                <c:pt idx="2">
                  <c:v>28.001796023091725</c:v>
                </c:pt>
                <c:pt idx="3">
                  <c:v>43.039897370109045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JuliusWatermark" Type="http://schemas.openxmlformats.org/officeDocument/2006/relationships/image" Target="../media/julius-pptx-watermark.png"/><Relationship Id="rIdJuliusLink" Type="http://schemas.openxmlformats.org/officeDocument/2006/relationships/hyperlink" Target="https://julius.ai/?utm_source=pptx_watermark" TargetMode="Externa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JULIUS_WATERMARK" descr="Made with Julius">
            <a:hlinkClick r:id="rIdJuliusLink"/>
          </p:cNvPr>
          <p:cNvPicPr>
            <a:picLocks noChangeAspect="1"/>
          </p:cNvPicPr>
          <p:nvPr/>
        </p:nvPicPr>
        <p:blipFill>
          <a:blip r:embed="rIdJuliusWatermark"/>
          <a:stretch>
            <a:fillRect/>
          </a:stretch>
        </p:blipFill>
        <p:spPr>
          <a:xfrm>
            <a:off x="10042855" y="6308446"/>
            <a:ext cx="2112264" cy="51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2263A"/>
                </a:solidFill>
                <a:latin typeface="Aptos"/>
              </a:rPr>
              <a:t>Revenue quality, repeat purchasing &amp; account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509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36779"/>
                </a:solidFill>
                <a:latin typeface="Aptos"/>
              </a:rPr>
              <a:t>Executive audit | January 1–December 31, 2025 | Currency unspecified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282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36779"/>
                </a:solidFill>
                <a:latin typeface="Aptos"/>
              </a:rPr>
              <a:t>REVENUE &amp; COHORT AUDIT  |  2025 observed orders  |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008F88"/>
                </a:solidFill>
                <a:latin typeface="Aptos"/>
              </a:rPr>
              <a:t>389,750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2491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2263A"/>
                </a:solidFill>
                <a:latin typeface="Aptos"/>
              </a:rPr>
              <a:t>Completed-order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008F88"/>
                </a:solidFill>
                <a:latin typeface="Aptos"/>
              </a:rPr>
              <a:t>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72491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2263A"/>
                </a:solidFill>
                <a:latin typeface="Aptos"/>
              </a:rPr>
              <a:t>Purchasing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008F88"/>
                </a:solidFill>
                <a:latin typeface="Aptos"/>
              </a:rPr>
              <a:t>−14.0%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2491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2263A"/>
                </a:solidFill>
                <a:latin typeface="Aptos"/>
              </a:rPr>
              <a:t>December MoM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49039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2263A"/>
                </a:solidFill>
                <a:latin typeface="Aptos"/>
              </a:rPr>
              <a:t>Protect high-value accounts; diagnose the year-end decline.</a:t>
            </a:r>
          </a:p>
          <a:p>
            <a:r>
              <a:rPr sz="2500" b="1" i="0">
                <a:solidFill>
                  <a:srgbClr val="12263A"/>
                </a:solidFill>
                <a:latin typeface="Aptos"/>
              </a:rPr>
              <a:t>Top spend quartile contributes 43.0% of revenue. Only 37.3% of accounts repurchase in days 61–90.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36779"/>
                </a:solidFill>
                <a:latin typeface="Aptos"/>
              </a:rPr>
              <a:t>Scope: transaction analytics, not contracted SaaS MRR, ARR, churn or net revenue retention.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2263A"/>
                </a:solidFill>
                <a:latin typeface="Aptos"/>
              </a:rPr>
              <a:t>Monthly growth is volatile; December weakens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509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36779"/>
                </a:solidFill>
                <a:latin typeface="Aptos"/>
              </a:rPr>
              <a:t>Total recorded order spend by month | Revenue in unspecified currency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282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36779"/>
                </a:solidFill>
                <a:latin typeface="Aptos"/>
              </a:rPr>
              <a:t>REVENUE &amp; COHORT AUDIT  |  2025 observed orders  |  02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91640"/>
          <a:ext cx="10881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36779"/>
                </a:solidFill>
                <a:latin typeface="Aptos"/>
              </a:rPr>
              <a:t>May peaks at 37,851. December closes at 29,521, 18.7% above January; this is not YoY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2263A"/>
                </a:solidFill>
                <a:latin typeface="Aptos"/>
              </a:rPr>
              <a:t>MoM trend: six declines across eleven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509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36779"/>
                </a:solidFill>
                <a:latin typeface="Aptos"/>
              </a:rPr>
              <a:t>Growth = (current-month revenue / prior-month revenue − 1) × 100 | January has no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282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36779"/>
                </a:solidFill>
                <a:latin typeface="Aptos"/>
              </a:rPr>
              <a:t>REVENUE &amp; COHORT AUDIT  |  2025 observed orders  |  03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91640"/>
          <a:ext cx="108813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36779"/>
                </a:solidFill>
                <a:latin typeface="Aptos"/>
              </a:rPr>
              <a:t>December: orders rise 78 → 79, while average order value falls 440.0 → 373.7 (−15.1%).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2263A"/>
                </a:solidFill>
                <a:latin typeface="Aptos"/>
              </a:rPr>
              <a:t>Monthly revenue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509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36779"/>
                </a:solidFill>
                <a:latin typeface="Aptos"/>
              </a:rPr>
              <a:t>All 1,000 records are completed orders; all twelve calendar months are represented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282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36779"/>
                </a:solidFill>
                <a:latin typeface="Aptos"/>
              </a:rPr>
              <a:t>REVENUE &amp; COHORT AUDIT  |  2025 observed orders  |  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48175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ptos"/>
                        </a:rPr>
                        <a:t>Month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ptos"/>
                        </a:rPr>
                        <a:t>Revenue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ptos"/>
                        </a:rPr>
                        <a:t>Orders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ptos"/>
                        </a:rPr>
                        <a:t>Accounts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ptos"/>
                        </a:rPr>
                        <a:t>MoM growth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Jan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24,873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Feb 2025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32,620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+31.15%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Mar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32,911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+0.89%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Apr 2025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27,288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62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55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-17.09%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37,851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+38.71%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Jun 2025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35,411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89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72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-6.45%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Jul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30,570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-13.67%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Aug 2025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35,555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95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74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+16.31%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34,364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-3.35%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Oct 2025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34,464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86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+0.29%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34,322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-0.41%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1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Dec 2025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29,521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63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-13.99%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2263A"/>
                </a:solidFill>
                <a:latin typeface="Aptos"/>
              </a:rPr>
              <a:t>90-day repeat purchasing reaches 37.3%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509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36779"/>
                </a:solidFill>
                <a:latin typeface="Aptos"/>
              </a:rPr>
              <a:t>First observed order month defines cohort | Rates measure distinct repeat-purchasing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282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36779"/>
                </a:solidFill>
                <a:latin typeface="Aptos"/>
              </a:rPr>
              <a:t>REVENUE &amp; COHORT AUDIT  |  2025 observed orders  |  05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ptos"/>
                        </a:rPr>
                        <a:t>First order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ptos"/>
                        </a:rPr>
                        <a:t>Accounts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ptos"/>
                        </a:rPr>
                        <a:t>Days 1–30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ptos"/>
                        </a:rPr>
                        <a:t>Days 31–60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ptos"/>
                        </a:rPr>
                        <a:t>Days 61–90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2025-01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26/65 · 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26/65 · 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21/65 · 32.3%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2025-02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36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17/36 · 47.2%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16/36 · 44.4%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15/36 · 41.7%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2025-03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11/25 · 44.0%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8/25 · 32.0%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11/25 · 44.0%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2025-04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4/11 · 36.4%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6/11 · 54.5%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4/11 · 36.4%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2025-05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2/5 · 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3/5 · 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2/5 · 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2025-06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4/5 · 80.0%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3/5 · 60.0%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2/5 · 40.0%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2025-07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0/2 · 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0/2 · 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1/2 · 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2025-08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1/1 · 100.0%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0/1 · 0.0%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0/1 · 0.0%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65/150 · 43.3%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62/150 · 41.3%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2263A"/>
                          </a:solidFill>
                          <a:latin typeface="Aptos"/>
                        </a:rPr>
                        <a:t>56/150 · 37.3%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36779"/>
                </a:solidFill>
                <a:latin typeface="Aptos"/>
              </a:rPr>
              <a:t>Not subscription survival. All accounts have ≥90 days follow-up. Later cohorts are very small (n=1–5).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2263A"/>
                </a:solidFill>
                <a:latin typeface="Aptos"/>
              </a:rPr>
              <a:t>Top spend quartile supplies 43% of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509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36779"/>
                </a:solidFill>
                <a:latin typeface="Aptos"/>
              </a:rPr>
              <a:t>Quartiles use total observed spend per account, not individual order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282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36779"/>
                </a:solidFill>
                <a:latin typeface="Aptos"/>
              </a:rPr>
              <a:t>REVENUE &amp; COHORT AUDIT  |  2025 observed orders  |  06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91640"/>
          <a:ext cx="108813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5120640"/>
          <a:ext cx="110642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352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ptos"/>
                        </a:rPr>
                        <a:t>Quartile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ptos"/>
                        </a:rPr>
                        <a:t>Q1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ptos"/>
                        </a:rPr>
                        <a:t>Q2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ptos"/>
                        </a:rPr>
                        <a:t>Q3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ptos"/>
                        </a:rPr>
                        <a:t>Q4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2263A"/>
                          </a:solidFill>
                          <a:latin typeface="Aptos"/>
                        </a:rPr>
                        <a:t>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2263A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2263A"/>
                          </a:solidFill>
                          <a:latin typeface="Aptos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2263A"/>
                          </a:solidFill>
                          <a:latin typeface="Aptos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2263A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2263A"/>
                          </a:solidFill>
                          <a:latin typeface="Aptos"/>
                        </a:rPr>
                        <a:t>Spend range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2263A"/>
                          </a:solidFill>
                          <a:latin typeface="Aptos"/>
                        </a:rPr>
                        <a:t>148–1,541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2263A"/>
                          </a:solidFill>
                          <a:latin typeface="Aptos"/>
                        </a:rPr>
                        <a:t>1,544–2,491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2263A"/>
                          </a:solidFill>
                          <a:latin typeface="Aptos"/>
                        </a:rPr>
                        <a:t>2,492–3,344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2263A"/>
                          </a:solidFill>
                          <a:latin typeface="Aptos"/>
                        </a:rPr>
                        <a:t>3,394–6,288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2263A"/>
                </a:solidFill>
                <a:latin typeface="Aptos"/>
              </a:rPr>
              <a:t>28 high-value accounts merit reactivation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509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36779"/>
                </a:solidFill>
                <a:latin typeface="Aptos"/>
              </a:rPr>
              <a:t>RFM snapshot: January 1, 2026 | Behavioral labels are prioritization heuristics, not churn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282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36779"/>
                </a:solidFill>
                <a:latin typeface="Aptos"/>
              </a:rPr>
              <a:t>REVENUE &amp; COHORT AUDIT  |  2025 observed orders  |  07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105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ptos"/>
                        </a:rPr>
                        <a:t>RFM segment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ptos"/>
                        </a:rPr>
                        <a:t>Accounts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ptos"/>
                        </a:rPr>
                        <a:t>Revenue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ptos"/>
                        </a:rPr>
                        <a:t>Rev. share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ptos"/>
                        </a:rPr>
                        <a:t>Avg. recency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Champions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153,242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39.3%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19.1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High-value at risk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28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97,895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25.1%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75.5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Lapsed / lower-value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68,382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17.5%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96.8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Recent / developing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27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52,263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13.4%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17.3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Active / loyal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17,968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2263A"/>
                          </a:solidFill>
                          <a:latin typeface="Aptos"/>
                        </a:rPr>
                        <a:t>24.1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8F88"/>
                </a:solidFill>
                <a:latin typeface="Aptos"/>
              </a:rPr>
              <a:t>High-value at risk = R ≤2 and M ≥3: 28 accounts, 97,895 in historical spend (25.1%). This spend is not forecast revenue 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2263A"/>
                </a:solidFill>
                <a:latin typeface="Aptos"/>
              </a:rPr>
              <a:t>Recommended actions | owners, timing &amp; decision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509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36779"/>
                </a:solidFill>
                <a:latin typeface="Aptos"/>
              </a:rPr>
              <a:t>Recommendations are hypotheses to test; no causal drivers or uplift estimates are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282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36779"/>
                </a:solidFill>
                <a:latin typeface="Aptos"/>
              </a:rPr>
              <a:t>REVENUE &amp; COHORT AUDIT  |  2025 observed orders  |  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59536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Aptos"/>
                        </a:rPr>
                        <a:t>Priority / owner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Aptos"/>
                        </a:rPr>
                        <a:t>Action &amp; timing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Aptos"/>
                        </a:rPr>
                        <a:t>Decision metric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1 · Finance / RevOps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Within 2 weeks: decompose December AOV by account and spend tier.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Reconcile 4,801 decline; isolate price / mix effects.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2 · Customer Success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Within 30 days: review 28 high-value at-risk accounts; test targeted outreach.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Incremental repeat orders vs. a holdout; track response.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3 · Product /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Within 60 days: test onboarding and reminders around first repeat purchase.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Days 1–30 and 61–90 repeat rates; report cohort 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4 · Data / Finance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Within 90 days: join contracts, billing, currency and acquisition history.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2263A"/>
                          </a:solidFill>
                          <a:latin typeface="Aptos"/>
                        </a:rPr>
                        <a:t>Reliable MRR / ARR, renewal churn and NRR.</a:t>
                      </a:r>
                    </a:p>
                  </a:txBody>
                  <a:tcPr>
                    <a:solidFill>
                      <a:srgbClr val="E7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2263A"/>
                </a:solidFill>
                <a:latin typeface="Aptos"/>
              </a:rPr>
              <a:t>Methodology &amp; audit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509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36779"/>
                </a:solidFill>
                <a:latin typeface="Aptos"/>
              </a:rPr>
              <a:t>Reproducible definitions | Revenue and account totals reconcile across every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2823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36779"/>
                </a:solidFill>
                <a:latin typeface="Aptos"/>
              </a:rPr>
              <a:t>REVENUE &amp; COHORT AUDIT  |  2025 observed orders  |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2263A"/>
                </a:solidFill>
                <a:latin typeface="Aptos"/>
              </a:rPr>
              <a:t>REVENUE  •  Sum completed-order spend. No missing values, duplicate order IDs, nonpositive spend or invalid dates were found. Currency, taxes and refund policy are not supplied.</a:t>
            </a:r>
          </a:p>
          <a:p>
            <a:r>
              <a:rPr sz="1700" b="0" i="0">
                <a:solidFill>
                  <a:srgbClr val="12263A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12263A"/>
                </a:solidFill>
                <a:latin typeface="Aptos"/>
              </a:rPr>
              <a:t>COHORTS  •  First observed completed order; repeat orders in days 1–30 / 31–60 / 61–90, excluding day 0. Eligible denominator requires full window observation through Dec 31. Pre-2025 history is unknown; “first observed” may not mean acquisition.</a:t>
            </a:r>
          </a:p>
          <a:p>
            <a:r>
              <a:rPr sz="1700" b="0" i="0">
                <a:solidFill>
                  <a:srgbClr val="12263A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12263A"/>
                </a:solidFill>
                <a:latin typeface="Aptos"/>
              </a:rPr>
              <a:t>RFM  •  Recency = days since last order as of Jan 1, 2026; frequency = unique orders; monetary = total spend. Scores 1–4 use ceiling(average percentile rank × 4), reversing recency. Ties share scores.</a:t>
            </a:r>
          </a:p>
          <a:p>
            <a:r>
              <a:rPr sz="1700" b="0" i="0">
                <a:solidFill>
                  <a:srgbClr val="12263A"/>
                </a:solidFill>
                <a:latin typeface="Aptos"/>
              </a:rPr>
              <a:t/>
            </a:r>
          </a:p>
          <a:p>
            <a:r>
              <a:rPr sz="1700" b="0" i="0">
                <a:solidFill>
                  <a:srgbClr val="12263A"/>
                </a:solidFill>
                <a:latin typeface="Aptos"/>
              </a:rPr>
              <a:t>QUARTILES  •  Spend cutpoints: 1,541.75 / 2,491.50 / 3,381.50. Champions: R,F,M ≥3; high-value at risk: R ≤2,M ≥3; recent/developing: R ≥3,F ≤2; remaining R ≥3: active/loyal; others: lapsed/lower-value. Rules applied in this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Revenue &amp; Cohort Analytics Audit</dc:title>
  <dc:subject>2025 observed order analytics</dc:subject>
  <dc:creator>Julius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